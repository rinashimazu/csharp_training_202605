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sldIdLst>
    <p:sldId id="256" r:id="rId2"/>
    <p:sldId id="272" r:id="rId3"/>
    <p:sldId id="257" r:id="rId4"/>
    <p:sldId id="268" r:id="rId5"/>
    <p:sldId id="279" r:id="rId6"/>
    <p:sldId id="274" r:id="rId7"/>
    <p:sldId id="263" r:id="rId8"/>
    <p:sldId id="264" r:id="rId9"/>
    <p:sldId id="280" r:id="rId10"/>
    <p:sldId id="281" r:id="rId11"/>
    <p:sldId id="282" r:id="rId12"/>
    <p:sldId id="270" r:id="rId13"/>
    <p:sldId id="275" r:id="rId14"/>
    <p:sldId id="265" r:id="rId15"/>
    <p:sldId id="269" r:id="rId16"/>
    <p:sldId id="267" r:id="rId17"/>
    <p:sldId id="276" r:id="rId18"/>
    <p:sldId id="271" r:id="rId19"/>
    <p:sldId id="277" r:id="rId20"/>
    <p:sldId id="278" r:id="rId2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スタイル (中間)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65FE34-A45D-4E33-8C0F-9DA80864FFC7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C4D413-6BC4-47F1-AC17-9D09EC6249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4311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DEC340-2FA4-A024-AD88-B0F5C921DC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CF974BF-FAD5-6263-97DC-75759DF984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D93ED60-6DF6-3B7D-B262-69B5B030A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4FE40-8A24-4E18-823E-300E143F08AF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9B3416E-2F52-FE2C-02DE-72FB36E9D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00A55C9-7908-A8C3-258E-FE14606BE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C428D-39D0-4BB1-9803-D09E093DC6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8306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747E9C-D9C5-79CB-E18F-D440FADF4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D63A6A5-283C-CC76-7058-48DCC2A4F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726E479-8535-8E74-4287-93A3E74D8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04337-98F4-453B-BFF7-B0D50B39CE20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0FF166D-EA25-DD92-6B59-5A76BD368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FBB24AB-4B29-E2A7-85F4-D188EC839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C428D-39D0-4BB1-9803-D09E093DC6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0746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CDB6C4-18F3-4EE2-168C-111B3A186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DF1CC59-0041-541E-D203-298CDEB10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966E509-5623-BD92-5419-D36AED618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4AC99-B1D9-4B8C-A6A3-D79CA3683056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320B550-C61A-52AD-DBA5-CB9D58FAB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BE6A41D-4A9F-C175-F9C6-496C9B51B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C428D-39D0-4BB1-9803-D09E093DC6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3959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FE5409-561C-22DD-DF29-53545B266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6DE5D-A38A-57A0-2800-4DCF5568B1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1147846-507D-35F4-CC7C-0F99E6D9D1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A23C65F-B8E3-20FE-CADD-D88347131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3720E-95D5-47BF-A160-0AE9A0D9B96E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84EFACC-51F0-8FA6-255F-78812227C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4044BDB-C6F1-2644-958B-7BF7AED09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C428D-39D0-4BB1-9803-D09E093DC6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9362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7B7327-87EF-1248-153B-B5210BDFD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42C8EE4-D6C4-72BD-8EFD-593BE13D7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0145A7B-90E2-4AC4-7EDB-F8966869DB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239D1E2-E5E3-8969-809E-1A880A75D3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4756E9A-6D02-6DEB-DBCF-572A7CCF8B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CBEE2FD-0C94-5C13-84F9-79AD959CB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3C1F4-1542-412E-8BD5-97695A63BA9B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2ACCF1B-C2DE-0FAE-984E-23B5C2A0B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4F10692-497C-ABDB-277C-C9E5E00DD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C428D-39D0-4BB1-9803-D09E093DC6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233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0849C8-66C1-8C68-92F2-4BA6D4456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9253E7C-9873-E41A-5CEC-973281692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456B8-3497-4535-B154-32008C75978B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D4C57BC-00DD-E235-F482-ADB8FC7EA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E5F0705-C2E1-4553-7E60-628C74A7B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C428D-39D0-4BB1-9803-D09E093DC6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364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4EE9ABE-77CC-4392-A189-05D395B9E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2F1FE-D191-4CE2-96D4-1475D47305AE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660D0FE-80D0-040B-4784-40BD1FFF5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4D866DB-7913-1D3C-FA10-72F02D1A4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C428D-39D0-4BB1-9803-D09E093DC6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2196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B914BA-2650-602C-418A-6DB6382D6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CF08B4-B544-10B0-72C5-A1182CA99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88B9615-4A1A-2E3B-F81A-278366A776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81EB4E0-F178-C543-BC4C-3CC542B1C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2331-2640-4656-A5D9-5EA360C26898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D05EBE7-6AD6-74F1-84D4-529BDF7C2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4BAA029-81D4-B9FF-22D1-A66B919C4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C428D-39D0-4BB1-9803-D09E093DC6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7485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5108F5-635F-1F4E-ECAB-A9DFA5A78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FFE90BB-63D0-390B-5946-4C9641D22B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4D44E54-1769-4B79-7295-FA77CFDC5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0530E2-C8AB-5F20-1471-54D6ACC27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1FD0-5959-410D-8745-44E9162591F8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16884B7-B76A-4CBE-A224-F5B1A8891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E0A195C-60CC-5F21-6271-CB9B41E49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C428D-39D0-4BB1-9803-D09E093DC6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5883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507D45-EF85-4AAF-921C-56C0C709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376FAD1-3A86-B478-6D1F-B34BCBD29B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4467060-0DA4-F142-6512-F88DA8AB5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9686F-3F35-4EB7-B08E-54F5C923BFD4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8C5C9CC-1574-E994-B7FD-ECF0B5AEF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29D594-4E34-9250-EA7F-2A85F2423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C428D-39D0-4BB1-9803-D09E093DC6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6515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3AEBAB4-E7E8-8E0D-0A9B-352C9C65BE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CD972C8-1508-5BF8-FCD7-EAC562DF55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7FFE44-DB1B-EBC4-321E-4260AEC35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4F26B-3002-403C-841D-70C557AFAABC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53C6FF4-1B23-17AB-53EF-A3B86DB80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4566A3F-4B42-B06D-EA5A-92BBB7093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C428D-39D0-4BB1-9803-D09E093DC6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8157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FCDF0B0-8A3A-DC72-D854-49A7A9FC4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764414D-9CA0-FEF0-A525-2598137913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13498D-E83A-551A-4211-EC0E6EF45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5CB696-6BCA-416B-A02D-6F756C5C8DE9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9A85F6-6973-1BFC-054F-32C0873549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8262B78-AB92-C435-836E-41F5C67F5F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BC428D-39D0-4BB1-9803-D09E093DC6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2965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7D7A02-907B-496F-BA7E-AA3780733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BA5268-0AE7-4CAD-9537-D0EB09E76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8D065B-39DA-4077-B9CF-E489CE4C0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AF535A1-E99E-BE16-7238-9EDA9CD6E6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9529" y="2085788"/>
            <a:ext cx="6884895" cy="1496649"/>
          </a:xfrm>
        </p:spPr>
        <p:txBody>
          <a:bodyPr anchor="b">
            <a:normAutofit/>
          </a:bodyPr>
          <a:lstStyle/>
          <a:p>
            <a:r>
              <a:rPr kumimoji="1"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開発演習成果発表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EDFCDEF-BF8D-4B9E-B5F7-F9379B99FF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3948056"/>
            <a:ext cx="6096000" cy="830134"/>
          </a:xfrm>
        </p:spPr>
        <p:txBody>
          <a:bodyPr anchor="t">
            <a:normAutofit/>
          </a:bodyPr>
          <a:lstStyle/>
          <a:p>
            <a:r>
              <a:rPr kumimoji="1" lang="ja-JP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株式会社イシダシステム開発　島津璃奈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671B3AE-D0D5-863B-6D0B-7831F3B1DECC}"/>
              </a:ext>
            </a:extLst>
          </p:cNvPr>
          <p:cNvSpPr txBox="1"/>
          <p:nvPr/>
        </p:nvSpPr>
        <p:spPr>
          <a:xfrm>
            <a:off x="9893300" y="5625584"/>
            <a:ext cx="482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2026/5/29</a:t>
            </a:r>
          </a:p>
        </p:txBody>
      </p:sp>
    </p:spTree>
    <p:extLst>
      <p:ext uri="{BB962C8B-B14F-4D97-AF65-F5344CB8AC3E}">
        <p14:creationId xmlns:p14="http://schemas.microsoft.com/office/powerpoint/2010/main" val="2792033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AC75B1D-4749-49A1-8553-FD296DD7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A8ECCF6-3858-46C9-8F9F-C06506CC3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1601" y="1371600"/>
            <a:ext cx="9486899" cy="411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9FA8339C-9275-0C5C-71C9-EC29D05C0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602" y="2439375"/>
            <a:ext cx="6884895" cy="14966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ja-JP" altLang="en-US" sz="48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スケジュールについて</a:t>
            </a:r>
            <a:endParaRPr lang="en-US" altLang="ja-JP" sz="4800" b="1" kern="1200" dirty="0">
              <a:solidFill>
                <a:srgbClr val="595959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A4E5E17-6D74-2A41-3321-02D8103A3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C428D-39D0-4BB1-9803-D09E093DC601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4797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CB299CAB-C506-454B-90FC-406572829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C8D99311-F254-40F1-8AB5-EE3E7B9B6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02C8E0A-5AF8-F99A-7A22-9F93E4C61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1070149"/>
            <a:ext cx="8959893" cy="1004836"/>
          </a:xfrm>
        </p:spPr>
        <p:txBody>
          <a:bodyPr anchor="ctr">
            <a:normAutofit/>
          </a:bodyPr>
          <a:lstStyle/>
          <a:p>
            <a:pPr algn="ctr"/>
            <a:r>
              <a:rPr kumimoji="1" lang="ja-JP" altLang="en-US" sz="3200" b="1" dirty="0"/>
              <a:t>開発スケジュールについて（予定）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89E3CB-00ED-4691-9F0F-F23EA3564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F6A78192-E847-C21E-0826-55FA53779E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6560408"/>
              </p:ext>
            </p:extLst>
          </p:nvPr>
        </p:nvGraphicFramePr>
        <p:xfrm>
          <a:off x="836308" y="1987176"/>
          <a:ext cx="10515603" cy="399117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126513946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09513370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936547051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579558071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154313375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273615481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433695062"/>
                    </a:ext>
                  </a:extLst>
                </a:gridCol>
              </a:tblGrid>
              <a:tr h="91096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20</a:t>
                      </a:r>
                      <a:r>
                        <a:rPr kumimoji="1" lang="ja-JP" altLang="en-US" sz="2800" dirty="0"/>
                        <a:t>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21</a:t>
                      </a:r>
                      <a:r>
                        <a:rPr kumimoji="1" lang="ja-JP" altLang="en-US" sz="2800" dirty="0"/>
                        <a:t>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22</a:t>
                      </a:r>
                      <a:r>
                        <a:rPr kumimoji="1" lang="ja-JP" altLang="en-US" sz="2800" dirty="0"/>
                        <a:t>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25</a:t>
                      </a:r>
                      <a:r>
                        <a:rPr kumimoji="1" lang="ja-JP" altLang="en-US" sz="2800" dirty="0"/>
                        <a:t>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26</a:t>
                      </a:r>
                      <a:r>
                        <a:rPr kumimoji="1" lang="ja-JP" altLang="en-US" sz="2800" dirty="0"/>
                        <a:t>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27</a:t>
                      </a:r>
                      <a:r>
                        <a:rPr kumimoji="1" lang="ja-JP" altLang="en-US" sz="2800" dirty="0"/>
                        <a:t>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28</a:t>
                      </a:r>
                      <a:r>
                        <a:rPr kumimoji="1" lang="ja-JP" altLang="en-US" sz="2800" dirty="0"/>
                        <a:t>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4818226"/>
                  </a:ext>
                </a:extLst>
              </a:tr>
              <a:tr h="3080211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677019"/>
                  </a:ext>
                </a:extLst>
              </a:tr>
            </a:tbl>
          </a:graphicData>
        </a:graphic>
      </p:graphicFrame>
      <p:sp>
        <p:nvSpPr>
          <p:cNvPr id="5" name="矢印: 右 4">
            <a:extLst>
              <a:ext uri="{FF2B5EF4-FFF2-40B4-BE49-F238E27FC236}">
                <a16:creationId xmlns:a16="http://schemas.microsoft.com/office/drawing/2014/main" id="{110E88BA-4C6D-9320-FDF5-2802B72EEC2A}"/>
              </a:ext>
            </a:extLst>
          </p:cNvPr>
          <p:cNvSpPr/>
          <p:nvPr/>
        </p:nvSpPr>
        <p:spPr>
          <a:xfrm>
            <a:off x="1026811" y="3948602"/>
            <a:ext cx="2565400" cy="987973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2000" b="1" dirty="0"/>
              <a:t>DB</a:t>
            </a:r>
            <a:r>
              <a:rPr lang="ja-JP" altLang="en-US" sz="2000" b="1" dirty="0"/>
              <a:t>設計・</a:t>
            </a:r>
            <a:r>
              <a:rPr lang="en-US" altLang="ja-JP" sz="2000" b="1" dirty="0"/>
              <a:t>ER</a:t>
            </a:r>
            <a:r>
              <a:rPr lang="ja-JP" altLang="en-US" sz="2000" b="1" dirty="0"/>
              <a:t>図</a:t>
            </a:r>
            <a:endParaRPr kumimoji="1" lang="ja-JP" altLang="en-US" sz="2000" b="1" dirty="0"/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508434EC-CF61-7649-29B0-FBB22192B6B2}"/>
              </a:ext>
            </a:extLst>
          </p:cNvPr>
          <p:cNvSpPr/>
          <p:nvPr/>
        </p:nvSpPr>
        <p:spPr>
          <a:xfrm>
            <a:off x="2525410" y="4945345"/>
            <a:ext cx="2565400" cy="987973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000" b="1" dirty="0"/>
              <a:t>コード記述</a:t>
            </a:r>
            <a:endParaRPr kumimoji="1" lang="ja-JP" altLang="en-US" sz="2000" b="1" dirty="0"/>
          </a:p>
        </p:txBody>
      </p:sp>
      <p:sp>
        <p:nvSpPr>
          <p:cNvPr id="17" name="矢印: 右 16">
            <a:extLst>
              <a:ext uri="{FF2B5EF4-FFF2-40B4-BE49-F238E27FC236}">
                <a16:creationId xmlns:a16="http://schemas.microsoft.com/office/drawing/2014/main" id="{C3739984-E3D4-A938-7497-AA5FB6109236}"/>
              </a:ext>
            </a:extLst>
          </p:cNvPr>
          <p:cNvSpPr/>
          <p:nvPr/>
        </p:nvSpPr>
        <p:spPr>
          <a:xfrm>
            <a:off x="5562600" y="3035141"/>
            <a:ext cx="2565400" cy="987973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000" b="1" dirty="0"/>
              <a:t>コード修正</a:t>
            </a:r>
          </a:p>
        </p:txBody>
      </p:sp>
      <p:sp>
        <p:nvSpPr>
          <p:cNvPr id="18" name="矢印: 右 17">
            <a:extLst>
              <a:ext uri="{FF2B5EF4-FFF2-40B4-BE49-F238E27FC236}">
                <a16:creationId xmlns:a16="http://schemas.microsoft.com/office/drawing/2014/main" id="{B79456CA-7F14-836C-2D6F-8D64DB939FC2}"/>
              </a:ext>
            </a:extLst>
          </p:cNvPr>
          <p:cNvSpPr/>
          <p:nvPr/>
        </p:nvSpPr>
        <p:spPr>
          <a:xfrm>
            <a:off x="4049411" y="4050766"/>
            <a:ext cx="2565400" cy="987973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000" b="1" dirty="0"/>
              <a:t>テスト作成・実施</a:t>
            </a:r>
            <a:endParaRPr kumimoji="1" lang="ja-JP" altLang="en-US" sz="2000" b="1" dirty="0"/>
          </a:p>
        </p:txBody>
      </p:sp>
      <p:sp>
        <p:nvSpPr>
          <p:cNvPr id="19" name="矢印: 右 18">
            <a:extLst>
              <a:ext uri="{FF2B5EF4-FFF2-40B4-BE49-F238E27FC236}">
                <a16:creationId xmlns:a16="http://schemas.microsoft.com/office/drawing/2014/main" id="{A9DAC388-850F-19D7-21BE-7AF90184F758}"/>
              </a:ext>
            </a:extLst>
          </p:cNvPr>
          <p:cNvSpPr/>
          <p:nvPr/>
        </p:nvSpPr>
        <p:spPr>
          <a:xfrm>
            <a:off x="8599791" y="3074353"/>
            <a:ext cx="2565400" cy="987973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000" b="1" dirty="0"/>
              <a:t>修正・応用実装</a:t>
            </a:r>
            <a:endParaRPr kumimoji="1" lang="ja-JP" altLang="en-US" sz="2000" b="1" dirty="0"/>
          </a:p>
        </p:txBody>
      </p:sp>
      <p:sp>
        <p:nvSpPr>
          <p:cNvPr id="20" name="矢印: 右 19">
            <a:extLst>
              <a:ext uri="{FF2B5EF4-FFF2-40B4-BE49-F238E27FC236}">
                <a16:creationId xmlns:a16="http://schemas.microsoft.com/office/drawing/2014/main" id="{C89C3C17-7165-8831-7E8C-FC09AB13D465}"/>
              </a:ext>
            </a:extLst>
          </p:cNvPr>
          <p:cNvSpPr/>
          <p:nvPr/>
        </p:nvSpPr>
        <p:spPr>
          <a:xfrm>
            <a:off x="7296826" y="4656815"/>
            <a:ext cx="3853773" cy="987973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000" b="1" dirty="0"/>
              <a:t>プレゼン資料</a:t>
            </a:r>
            <a:r>
              <a:rPr lang="ja-JP" altLang="en-US" sz="2000" b="1" dirty="0"/>
              <a:t>作成</a:t>
            </a:r>
            <a:endParaRPr kumimoji="1" lang="ja-JP" altLang="en-US" sz="2000" b="1" dirty="0"/>
          </a:p>
        </p:txBody>
      </p:sp>
      <p:sp>
        <p:nvSpPr>
          <p:cNvPr id="21" name="矢印: 右 20">
            <a:extLst>
              <a:ext uri="{FF2B5EF4-FFF2-40B4-BE49-F238E27FC236}">
                <a16:creationId xmlns:a16="http://schemas.microsoft.com/office/drawing/2014/main" id="{4B4EC261-0C9B-7992-4590-6915C4CACC69}"/>
              </a:ext>
            </a:extLst>
          </p:cNvPr>
          <p:cNvSpPr/>
          <p:nvPr/>
        </p:nvSpPr>
        <p:spPr>
          <a:xfrm>
            <a:off x="2540000" y="3007490"/>
            <a:ext cx="2565400" cy="987973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000" b="1" dirty="0"/>
              <a:t>クラス図作成</a:t>
            </a:r>
            <a:endParaRPr kumimoji="1" lang="ja-JP" altLang="en-US" sz="2000" b="1" dirty="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4790FFFD-0F45-DD62-BAB9-71A7990B95D5}"/>
              </a:ext>
            </a:extLst>
          </p:cNvPr>
          <p:cNvSpPr/>
          <p:nvPr/>
        </p:nvSpPr>
        <p:spPr>
          <a:xfrm>
            <a:off x="1026809" y="3130176"/>
            <a:ext cx="1157589" cy="76032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000" b="1" dirty="0"/>
              <a:t>Sample</a:t>
            </a:r>
            <a:r>
              <a:rPr kumimoji="1" lang="ja-JP" altLang="en-US" sz="2000" b="1" dirty="0"/>
              <a:t>作成</a:t>
            </a: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F0E792C4-66DD-84D2-6D49-B41810459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C428D-39D0-4BB1-9803-D09E093DC601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377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5E90DB-335B-0166-FD54-E92CEB6EA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75999BA4-55B1-98E2-1F77-727F45FC7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E68DCDA0-E5F5-613B-7FA9-9E75DEC4C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1044FA3-63D3-6003-29DB-6900A4924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1070149"/>
            <a:ext cx="8959893" cy="1004836"/>
          </a:xfrm>
        </p:spPr>
        <p:txBody>
          <a:bodyPr anchor="ctr">
            <a:normAutofit/>
          </a:bodyPr>
          <a:lstStyle/>
          <a:p>
            <a:pPr algn="ctr"/>
            <a:r>
              <a:rPr kumimoji="1" lang="ja-JP" altLang="en-US" sz="3200" dirty="0">
                <a:solidFill>
                  <a:srgbClr val="595959"/>
                </a:solidFill>
              </a:rPr>
              <a:t>開発スケジュールについて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C01AAE-D6B7-C8D9-BEC8-6F0B98EB9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91BAA689-373C-368F-6ABA-3EE648437D9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6308" y="1987176"/>
          <a:ext cx="10515600" cy="399117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126513946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951337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93654705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57955807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15431337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433695062"/>
                    </a:ext>
                  </a:extLst>
                </a:gridCol>
              </a:tblGrid>
              <a:tr h="91096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21</a:t>
                      </a:r>
                      <a:r>
                        <a:rPr kumimoji="1" lang="ja-JP" altLang="en-US" sz="2800" dirty="0"/>
                        <a:t>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22</a:t>
                      </a:r>
                      <a:r>
                        <a:rPr kumimoji="1" lang="ja-JP" altLang="en-US" sz="2800" dirty="0"/>
                        <a:t>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25</a:t>
                      </a:r>
                      <a:r>
                        <a:rPr kumimoji="1" lang="ja-JP" altLang="en-US" sz="2800" dirty="0"/>
                        <a:t>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26</a:t>
                      </a:r>
                      <a:r>
                        <a:rPr kumimoji="1" lang="ja-JP" altLang="en-US" sz="2800" dirty="0"/>
                        <a:t>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27</a:t>
                      </a:r>
                      <a:r>
                        <a:rPr kumimoji="1" lang="ja-JP" altLang="en-US" sz="2800" dirty="0"/>
                        <a:t>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28</a:t>
                      </a:r>
                      <a:r>
                        <a:rPr kumimoji="1" lang="ja-JP" altLang="en-US" sz="2800" dirty="0"/>
                        <a:t>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4818226"/>
                  </a:ext>
                </a:extLst>
              </a:tr>
              <a:tr h="3080211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677019"/>
                  </a:ext>
                </a:extLst>
              </a:tr>
            </a:tbl>
          </a:graphicData>
        </a:graphic>
      </p:graphicFrame>
      <p:sp>
        <p:nvSpPr>
          <p:cNvPr id="5" name="矢印: 右 4">
            <a:extLst>
              <a:ext uri="{FF2B5EF4-FFF2-40B4-BE49-F238E27FC236}">
                <a16:creationId xmlns:a16="http://schemas.microsoft.com/office/drawing/2014/main" id="{88E9C01E-82F0-1C0F-7835-D060D84FECB9}"/>
              </a:ext>
            </a:extLst>
          </p:cNvPr>
          <p:cNvSpPr/>
          <p:nvPr/>
        </p:nvSpPr>
        <p:spPr>
          <a:xfrm>
            <a:off x="1003300" y="3063327"/>
            <a:ext cx="3086100" cy="596152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游ゴシック" panose="020B0400000000000000" pitchFamily="50" charset="-128"/>
              <a:cs typeface="+mn-cs"/>
            </a:endParaRPr>
          </a:p>
        </p:txBody>
      </p:sp>
      <p:sp useBgFill="1">
        <p:nvSpPr>
          <p:cNvPr id="3" name="Rectangle 7">
            <a:extLst>
              <a:ext uri="{FF2B5EF4-FFF2-40B4-BE49-F238E27FC236}">
                <a16:creationId xmlns:a16="http://schemas.microsoft.com/office/drawing/2014/main" id="{91A92D8B-30A7-A382-314D-DF61E7CD8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AE2CBC62-2494-E651-12E1-658E02D05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タイトル 1">
            <a:extLst>
              <a:ext uri="{FF2B5EF4-FFF2-40B4-BE49-F238E27FC236}">
                <a16:creationId xmlns:a16="http://schemas.microsoft.com/office/drawing/2014/main" id="{20241830-9F19-EF77-D1AB-15452591E266}"/>
              </a:ext>
            </a:extLst>
          </p:cNvPr>
          <p:cNvSpPr txBox="1">
            <a:spLocks/>
          </p:cNvSpPr>
          <p:nvPr/>
        </p:nvSpPr>
        <p:spPr>
          <a:xfrm>
            <a:off x="1616054" y="1070149"/>
            <a:ext cx="8959893" cy="100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3200" b="1" dirty="0"/>
              <a:t>開発スケジュールについて（結果）</a:t>
            </a: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A3E39595-FA47-374E-9EDF-2AF0A36E7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コンテンツ プレースホルダー 3">
            <a:extLst>
              <a:ext uri="{FF2B5EF4-FFF2-40B4-BE49-F238E27FC236}">
                <a16:creationId xmlns:a16="http://schemas.microsoft.com/office/drawing/2014/main" id="{858A4FDC-BFB6-F5D4-5259-F15B3F0BCC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143813"/>
              </p:ext>
            </p:extLst>
          </p:nvPr>
        </p:nvGraphicFramePr>
        <p:xfrm>
          <a:off x="836308" y="1987176"/>
          <a:ext cx="10515603" cy="399117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126513946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09513370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936547051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579558071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154313375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273615481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433695062"/>
                    </a:ext>
                  </a:extLst>
                </a:gridCol>
              </a:tblGrid>
              <a:tr h="91096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20</a:t>
                      </a:r>
                      <a:r>
                        <a:rPr kumimoji="1" lang="ja-JP" altLang="en-US" sz="2800" dirty="0"/>
                        <a:t>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21</a:t>
                      </a:r>
                      <a:r>
                        <a:rPr kumimoji="1" lang="ja-JP" altLang="en-US" sz="2800" dirty="0"/>
                        <a:t>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22</a:t>
                      </a:r>
                      <a:r>
                        <a:rPr kumimoji="1" lang="ja-JP" altLang="en-US" sz="2800" dirty="0"/>
                        <a:t>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25</a:t>
                      </a:r>
                      <a:r>
                        <a:rPr kumimoji="1" lang="ja-JP" altLang="en-US" sz="2800" dirty="0"/>
                        <a:t>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26</a:t>
                      </a:r>
                      <a:r>
                        <a:rPr kumimoji="1" lang="ja-JP" altLang="en-US" sz="2800" dirty="0"/>
                        <a:t>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27</a:t>
                      </a:r>
                      <a:r>
                        <a:rPr kumimoji="1" lang="ja-JP" altLang="en-US" sz="2800" dirty="0"/>
                        <a:t>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28</a:t>
                      </a:r>
                      <a:r>
                        <a:rPr kumimoji="1" lang="ja-JP" altLang="en-US" sz="2800" dirty="0"/>
                        <a:t>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4818226"/>
                  </a:ext>
                </a:extLst>
              </a:tr>
              <a:tr h="3080211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677019"/>
                  </a:ext>
                </a:extLst>
              </a:tr>
            </a:tbl>
          </a:graphicData>
        </a:graphic>
      </p:graphicFrame>
      <p:sp>
        <p:nvSpPr>
          <p:cNvPr id="10" name="矢印: 右 9">
            <a:extLst>
              <a:ext uri="{FF2B5EF4-FFF2-40B4-BE49-F238E27FC236}">
                <a16:creationId xmlns:a16="http://schemas.microsoft.com/office/drawing/2014/main" id="{5EB20406-24B4-5470-7EC8-599ACA23F36A}"/>
              </a:ext>
            </a:extLst>
          </p:cNvPr>
          <p:cNvSpPr/>
          <p:nvPr/>
        </p:nvSpPr>
        <p:spPr>
          <a:xfrm>
            <a:off x="1026811" y="3948602"/>
            <a:ext cx="2565400" cy="987973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2000" b="1" dirty="0"/>
              <a:t>DB</a:t>
            </a:r>
            <a:r>
              <a:rPr lang="ja-JP" altLang="en-US" sz="2000" b="1" dirty="0"/>
              <a:t>設計・</a:t>
            </a:r>
            <a:r>
              <a:rPr lang="en-US" altLang="ja-JP" sz="2000" b="1" dirty="0"/>
              <a:t>ER</a:t>
            </a:r>
            <a:r>
              <a:rPr lang="ja-JP" altLang="en-US" sz="2000" b="1" dirty="0"/>
              <a:t>図</a:t>
            </a:r>
            <a:endParaRPr kumimoji="1" lang="ja-JP" altLang="en-US" sz="2000" b="1" dirty="0"/>
          </a:p>
        </p:txBody>
      </p:sp>
      <p:sp>
        <p:nvSpPr>
          <p:cNvPr id="11" name="矢印: 右 10">
            <a:extLst>
              <a:ext uri="{FF2B5EF4-FFF2-40B4-BE49-F238E27FC236}">
                <a16:creationId xmlns:a16="http://schemas.microsoft.com/office/drawing/2014/main" id="{8440E9A0-45BB-9589-37BC-540C05C549D8}"/>
              </a:ext>
            </a:extLst>
          </p:cNvPr>
          <p:cNvSpPr/>
          <p:nvPr/>
        </p:nvSpPr>
        <p:spPr>
          <a:xfrm>
            <a:off x="2525409" y="4945345"/>
            <a:ext cx="3853773" cy="98797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 dirty="0"/>
              <a:t>コード記述</a:t>
            </a:r>
            <a:endParaRPr kumimoji="1" lang="ja-JP" altLang="en-US" sz="2000" b="1" dirty="0"/>
          </a:p>
        </p:txBody>
      </p:sp>
      <p:sp>
        <p:nvSpPr>
          <p:cNvPr id="16" name="矢印: 右 15">
            <a:extLst>
              <a:ext uri="{FF2B5EF4-FFF2-40B4-BE49-F238E27FC236}">
                <a16:creationId xmlns:a16="http://schemas.microsoft.com/office/drawing/2014/main" id="{5DAB745F-3C13-62B2-BFEF-A93C44A83B06}"/>
              </a:ext>
            </a:extLst>
          </p:cNvPr>
          <p:cNvSpPr/>
          <p:nvPr/>
        </p:nvSpPr>
        <p:spPr>
          <a:xfrm>
            <a:off x="5562600" y="4043867"/>
            <a:ext cx="2565400" cy="98797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 dirty="0"/>
              <a:t>テスト作成・実施</a:t>
            </a:r>
            <a:endParaRPr kumimoji="1" lang="ja-JP" altLang="en-US" sz="2000" b="1" dirty="0"/>
          </a:p>
        </p:txBody>
      </p:sp>
      <p:sp>
        <p:nvSpPr>
          <p:cNvPr id="17" name="矢印: 右 16">
            <a:extLst>
              <a:ext uri="{FF2B5EF4-FFF2-40B4-BE49-F238E27FC236}">
                <a16:creationId xmlns:a16="http://schemas.microsoft.com/office/drawing/2014/main" id="{3F6D9F7A-723D-4EF2-39A1-A09AC9819FD5}"/>
              </a:ext>
            </a:extLst>
          </p:cNvPr>
          <p:cNvSpPr/>
          <p:nvPr/>
        </p:nvSpPr>
        <p:spPr>
          <a:xfrm>
            <a:off x="8599791" y="3074353"/>
            <a:ext cx="2565400" cy="987973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000" b="1" dirty="0"/>
              <a:t>修正・応用実装</a:t>
            </a:r>
            <a:endParaRPr kumimoji="1" lang="ja-JP" altLang="en-US" sz="2000" b="1" dirty="0"/>
          </a:p>
        </p:txBody>
      </p:sp>
      <p:sp>
        <p:nvSpPr>
          <p:cNvPr id="18" name="矢印: 右 17">
            <a:extLst>
              <a:ext uri="{FF2B5EF4-FFF2-40B4-BE49-F238E27FC236}">
                <a16:creationId xmlns:a16="http://schemas.microsoft.com/office/drawing/2014/main" id="{A054D59E-5F54-E270-AED6-4ECCEF0993CC}"/>
              </a:ext>
            </a:extLst>
          </p:cNvPr>
          <p:cNvSpPr/>
          <p:nvPr/>
        </p:nvSpPr>
        <p:spPr>
          <a:xfrm>
            <a:off x="8599791" y="4888752"/>
            <a:ext cx="2565400" cy="98797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b="1" dirty="0"/>
              <a:t>プレゼン資料</a:t>
            </a:r>
            <a:r>
              <a:rPr lang="ja-JP" altLang="en-US" sz="2000" b="1" dirty="0"/>
              <a:t>作成</a:t>
            </a:r>
            <a:endParaRPr kumimoji="1" lang="ja-JP" altLang="en-US" sz="2000" b="1" dirty="0"/>
          </a:p>
        </p:txBody>
      </p:sp>
      <p:sp>
        <p:nvSpPr>
          <p:cNvPr id="19" name="矢印: 右 18">
            <a:extLst>
              <a:ext uri="{FF2B5EF4-FFF2-40B4-BE49-F238E27FC236}">
                <a16:creationId xmlns:a16="http://schemas.microsoft.com/office/drawing/2014/main" id="{CA7FC50F-D737-3E6C-680A-F2BB7304EEB2}"/>
              </a:ext>
            </a:extLst>
          </p:cNvPr>
          <p:cNvSpPr/>
          <p:nvPr/>
        </p:nvSpPr>
        <p:spPr>
          <a:xfrm>
            <a:off x="2540000" y="3007490"/>
            <a:ext cx="2565400" cy="987973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000" b="1" dirty="0"/>
              <a:t>クラス図作成</a:t>
            </a:r>
            <a:endParaRPr kumimoji="1" lang="ja-JP" altLang="en-US" sz="2000" b="1" dirty="0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851F3512-E0C9-B432-1A2A-A967586ACA19}"/>
              </a:ext>
            </a:extLst>
          </p:cNvPr>
          <p:cNvSpPr/>
          <p:nvPr/>
        </p:nvSpPr>
        <p:spPr>
          <a:xfrm>
            <a:off x="1026809" y="3130176"/>
            <a:ext cx="1157589" cy="76032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000" b="1" dirty="0"/>
              <a:t>Sample</a:t>
            </a:r>
            <a:r>
              <a:rPr kumimoji="1" lang="ja-JP" altLang="en-US" sz="2000" b="1" dirty="0"/>
              <a:t>作成</a:t>
            </a: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456AFBBF-E0A5-9B9A-BE8D-392A06F593B7}"/>
              </a:ext>
            </a:extLst>
          </p:cNvPr>
          <p:cNvSpPr/>
          <p:nvPr/>
        </p:nvSpPr>
        <p:spPr>
          <a:xfrm>
            <a:off x="7004996" y="3143841"/>
            <a:ext cx="1157589" cy="76032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b="1" dirty="0"/>
              <a:t>コード修正</a:t>
            </a:r>
          </a:p>
        </p:txBody>
      </p:sp>
      <p:sp>
        <p:nvSpPr>
          <p:cNvPr id="48" name="スライド番号プレースホルダー 47">
            <a:extLst>
              <a:ext uri="{FF2B5EF4-FFF2-40B4-BE49-F238E27FC236}">
                <a16:creationId xmlns:a16="http://schemas.microsoft.com/office/drawing/2014/main" id="{8D0019CD-4ADF-DFE7-A952-83525D493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C428D-39D0-4BB1-9803-D09E093DC601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60C35F61-7C86-5A97-6DBB-9865991FD8F6}"/>
              </a:ext>
            </a:extLst>
          </p:cNvPr>
          <p:cNvSpPr/>
          <p:nvPr/>
        </p:nvSpPr>
        <p:spPr>
          <a:xfrm>
            <a:off x="9105900" y="6325115"/>
            <a:ext cx="482600" cy="36512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/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0C62A334-992F-1912-BDD4-2E2543415F57}"/>
              </a:ext>
            </a:extLst>
          </p:cNvPr>
          <p:cNvSpPr txBox="1"/>
          <p:nvPr/>
        </p:nvSpPr>
        <p:spPr>
          <a:xfrm>
            <a:off x="9550400" y="6348412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＝変更箇所</a:t>
            </a:r>
          </a:p>
        </p:txBody>
      </p:sp>
    </p:spTree>
    <p:extLst>
      <p:ext uri="{BB962C8B-B14F-4D97-AF65-F5344CB8AC3E}">
        <p14:creationId xmlns:p14="http://schemas.microsoft.com/office/powerpoint/2010/main" val="74418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3AFB42-CCE0-8E2D-002F-6579A774C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7A43FDF0-8D76-DF92-C25D-E3081E108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AC387D83-2E79-66CF-2845-0095DA1276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483B436-700E-0F7B-0B79-96F86FF6B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1070149"/>
            <a:ext cx="8959893" cy="1004836"/>
          </a:xfrm>
        </p:spPr>
        <p:txBody>
          <a:bodyPr anchor="ctr">
            <a:normAutofit/>
          </a:bodyPr>
          <a:lstStyle/>
          <a:p>
            <a:pPr algn="ctr"/>
            <a:r>
              <a:rPr lang="ja-JP" altLang="en-US" sz="3200" b="1" dirty="0"/>
              <a:t>開発スケジュールについて</a:t>
            </a:r>
            <a:endParaRPr kumimoji="1" lang="ja-JP" altLang="en-US" sz="32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0F2C67-BBB4-714E-7227-FE0748C8D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88CFE94-7466-BA52-0A1E-81E5A3873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2835" y="3416300"/>
            <a:ext cx="10042546" cy="344170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ja-JP" altLang="en-US" b="1" dirty="0"/>
              <a:t>・当初目標にしていた機能はすべて実装できた</a:t>
            </a:r>
            <a:endParaRPr lang="en-US" altLang="ja-JP" b="1" dirty="0"/>
          </a:p>
          <a:p>
            <a:pPr marL="0" indent="0">
              <a:buNone/>
            </a:pPr>
            <a:endParaRPr lang="en-US" altLang="ja-JP" b="1" dirty="0"/>
          </a:p>
          <a:p>
            <a:pPr marL="0" indent="0">
              <a:buNone/>
            </a:pPr>
            <a:r>
              <a:rPr lang="ja-JP" altLang="en-US" b="1" dirty="0"/>
              <a:t>・大幅な遅れはなかったが、一部想定より時間がかかった</a:t>
            </a:r>
            <a:endParaRPr lang="en-US" altLang="ja-JP" b="1" dirty="0"/>
          </a:p>
          <a:p>
            <a:pPr marL="0" indent="0">
              <a:buNone/>
            </a:pPr>
            <a:endParaRPr lang="en-US" altLang="ja-JP" b="1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7A89285-CD02-DFDE-FE1A-30148F379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BC428D-39D0-4BB1-9803-D09E093DC601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游ゴシック" panose="02110004020202020204"/>
                <a:ea typeface="游ゴシック" panose="020B0400000000000000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游ゴシック" panose="02110004020202020204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94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48B231-F3DB-D418-22E3-3A0EC94F7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AB4771A-A967-B639-E59E-2C480F181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6CA7254-FE24-1EF9-A69C-5781C7C75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1601" y="1371600"/>
            <a:ext cx="9486899" cy="411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A1CD4E23-993C-ABC7-EBBC-96BA9F01B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602" y="2439375"/>
            <a:ext cx="6884895" cy="14966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ja-JP" altLang="en-US" sz="48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成果物紹介</a:t>
            </a:r>
            <a:endParaRPr lang="en-US" altLang="ja-JP" sz="4800" b="1" kern="1200" dirty="0">
              <a:solidFill>
                <a:srgbClr val="595959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33FEA4AC-0383-FC4D-4139-245CA63AF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C428D-39D0-4BB1-9803-D09E093DC601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5657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846C68-1610-E197-FE32-C4E408778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6E1A8450-4CC3-84A6-8B2A-468E9C762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D22AB961-5F84-FF25-9741-02E405CD2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71ADE0B-9532-533A-2461-9A632876D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1070149"/>
            <a:ext cx="8959893" cy="1004836"/>
          </a:xfrm>
        </p:spPr>
        <p:txBody>
          <a:bodyPr anchor="ctr">
            <a:normAutofit/>
          </a:bodyPr>
          <a:lstStyle/>
          <a:p>
            <a:pPr algn="ctr"/>
            <a:r>
              <a:rPr kumimoji="1" lang="ja-JP" altLang="en-US" sz="3200" b="1" dirty="0"/>
              <a:t>成果物概要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0ED5D3-68A3-2D2E-2B89-C41C30AAE8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FF5A756-0A67-686A-56C3-30B00D3B2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2835" y="2660276"/>
            <a:ext cx="10042546" cy="344170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ja-JP" altLang="en-US" b="1" dirty="0"/>
              <a:t>「社員情報管理システム」</a:t>
            </a:r>
            <a:endParaRPr lang="en-US" altLang="ja-JP" b="1" dirty="0"/>
          </a:p>
          <a:p>
            <a:pPr marL="0" indent="0">
              <a:buNone/>
            </a:pPr>
            <a:endParaRPr lang="en-US" altLang="ja-JP" b="1" dirty="0"/>
          </a:p>
          <a:p>
            <a:pPr marL="0" indent="0">
              <a:buNone/>
            </a:pPr>
            <a:r>
              <a:rPr lang="ja-JP" altLang="en-US" b="1" dirty="0"/>
              <a:t>データベースにアクセスし、社内の社員と部門を管理できる</a:t>
            </a:r>
            <a:endParaRPr lang="en-US" altLang="ja-JP" b="1" dirty="0"/>
          </a:p>
          <a:p>
            <a:pPr marL="0" indent="0">
              <a:buNone/>
            </a:pPr>
            <a:endParaRPr lang="en-US" altLang="ja-JP" b="1" dirty="0"/>
          </a:p>
          <a:p>
            <a:pPr marL="0" indent="0">
              <a:buNone/>
            </a:pPr>
            <a:r>
              <a:rPr lang="ja-JP" altLang="en-US" b="1" dirty="0"/>
              <a:t>それぞれ</a:t>
            </a:r>
            <a:r>
              <a:rPr lang="en-US" altLang="ja-JP" b="1" dirty="0"/>
              <a:t>4</a:t>
            </a:r>
            <a:r>
              <a:rPr lang="ja-JP" altLang="en-US" b="1" dirty="0"/>
              <a:t>機能ずつ実装</a:t>
            </a:r>
            <a:endParaRPr lang="en-US" altLang="ja-JP" b="1" dirty="0"/>
          </a:p>
          <a:p>
            <a:pPr marL="0" indent="0">
              <a:buNone/>
            </a:pPr>
            <a:r>
              <a:rPr lang="ja-JP" altLang="en-US" b="1" dirty="0"/>
              <a:t>　→新規登録、一覧表示、登録変更、登録削除</a:t>
            </a:r>
            <a:endParaRPr lang="en-US" altLang="ja-JP" b="1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BAA2418-9F5E-92C5-8A3F-EF9C60179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C428D-39D0-4BB1-9803-D09E093DC601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6659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F9D1B-ACC0-CD49-ACF5-52A0C6658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6822307C-5571-8982-D136-3BC1CAF25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64DD45E3-7885-C84A-D2E8-4DECE438A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5ABE6D2-5097-0850-516E-9D928677F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1070149"/>
            <a:ext cx="8959893" cy="1004836"/>
          </a:xfrm>
        </p:spPr>
        <p:txBody>
          <a:bodyPr anchor="ctr">
            <a:normAutofit/>
          </a:bodyPr>
          <a:lstStyle/>
          <a:p>
            <a:pPr algn="ctr"/>
            <a:r>
              <a:rPr lang="ja-JP" altLang="en-US" sz="3200" b="1" dirty="0"/>
              <a:t>機能一覧</a:t>
            </a:r>
            <a:endParaRPr kumimoji="1" lang="ja-JP" altLang="en-US" sz="32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E94E08-1D22-5669-437D-4473C5F6B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pic>
        <p:nvPicPr>
          <p:cNvPr id="10" name="コンテンツ プレースホルダー 9">
            <a:extLst>
              <a:ext uri="{FF2B5EF4-FFF2-40B4-BE49-F238E27FC236}">
                <a16:creationId xmlns:a16="http://schemas.microsoft.com/office/drawing/2014/main" id="{8F61FE6C-9D35-3F43-B250-A1A5173664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283" b="1057"/>
          <a:stretch>
            <a:fillRect/>
          </a:stretch>
        </p:blipFill>
        <p:spPr>
          <a:xfrm>
            <a:off x="1515482" y="2260348"/>
            <a:ext cx="3924000" cy="3744000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0BDD76AB-0892-74A4-553A-44AEB304DA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r="-1793" b="1626"/>
          <a:stretch>
            <a:fillRect/>
          </a:stretch>
        </p:blipFill>
        <p:spPr>
          <a:xfrm>
            <a:off x="6752519" y="2260348"/>
            <a:ext cx="3924000" cy="3744000"/>
          </a:xfrm>
          <a:prstGeom prst="rect">
            <a:avLst/>
          </a:prstGeom>
        </p:spPr>
      </p:pic>
      <p:sp>
        <p:nvSpPr>
          <p:cNvPr id="16" name="スライド番号プレースホルダー 15">
            <a:extLst>
              <a:ext uri="{FF2B5EF4-FFF2-40B4-BE49-F238E27FC236}">
                <a16:creationId xmlns:a16="http://schemas.microsoft.com/office/drawing/2014/main" id="{383AC947-7440-97A0-3F85-5F22202AD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C428D-39D0-4BB1-9803-D09E093DC601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1630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187C43-E6B5-DC03-74BF-54B062EE5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EC0E0023-7B65-AF41-03D6-0A44A752E0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20F999A0-B97C-D5C2-5FC3-B4664B4C46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4D6409C-8100-F5ED-A798-644C1F070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1070149"/>
            <a:ext cx="8959893" cy="1004836"/>
          </a:xfrm>
        </p:spPr>
        <p:txBody>
          <a:bodyPr anchor="ctr">
            <a:normAutofit/>
          </a:bodyPr>
          <a:lstStyle/>
          <a:p>
            <a:pPr algn="ctr"/>
            <a:r>
              <a:rPr lang="ja-JP" altLang="en-US" sz="3200" b="1" dirty="0"/>
              <a:t>機能紹介（登録）</a:t>
            </a:r>
            <a:endParaRPr kumimoji="1" lang="ja-JP" altLang="en-US" sz="32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F76DB3-9EDB-2875-1C34-B0CF95921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16" name="スライド番号プレースホルダー 15">
            <a:extLst>
              <a:ext uri="{FF2B5EF4-FFF2-40B4-BE49-F238E27FC236}">
                <a16:creationId xmlns:a16="http://schemas.microsoft.com/office/drawing/2014/main" id="{B7FBBB04-688B-AA6F-D5EB-C61BAEC28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BC428D-39D0-4BB1-9803-D09E093DC601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游ゴシック" panose="02110004020202020204"/>
                <a:ea typeface="游ゴシック" panose="020B0400000000000000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游ゴシック" panose="02110004020202020204"/>
              <a:ea typeface="游ゴシック" panose="020B0400000000000000" pitchFamily="50" charset="-128"/>
              <a:cs typeface="+mn-cs"/>
            </a:endParaRP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773FE16F-2E7D-A927-AABE-2B1E8E59F3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578" y="1809747"/>
            <a:ext cx="2246023" cy="2150632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D505DAD6-B718-657D-0E0D-D3D7028B81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7959" y="2392237"/>
            <a:ext cx="3749846" cy="1571988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79293A24-09E0-EB33-9851-3B38A5FC4F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2937" y="1715448"/>
            <a:ext cx="3264769" cy="2196637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E2700B48-FA24-86DC-5BF0-388774195D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9031" y="3954597"/>
            <a:ext cx="3264769" cy="2164202"/>
          </a:xfrm>
          <a:prstGeom prst="rect">
            <a:avLst/>
          </a:prstGeom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86FE2FE6-4B9E-30EE-F55E-F7856E38F5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9665" y="4016364"/>
            <a:ext cx="3804662" cy="1713447"/>
          </a:xfrm>
          <a:prstGeom prst="rect">
            <a:avLst/>
          </a:prstGeom>
        </p:spPr>
      </p:pic>
      <p:pic>
        <p:nvPicPr>
          <p:cNvPr id="32" name="図 31">
            <a:extLst>
              <a:ext uri="{FF2B5EF4-FFF2-40B4-BE49-F238E27FC236}">
                <a16:creationId xmlns:a16="http://schemas.microsoft.com/office/drawing/2014/main" id="{EBBDDBAD-FDE0-54D5-ABD6-21BDD6D4993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578" y="3994484"/>
            <a:ext cx="2246023" cy="2143610"/>
          </a:xfrm>
          <a:prstGeom prst="rect">
            <a:avLst/>
          </a:prstGeom>
        </p:spPr>
      </p:pic>
      <p:sp>
        <p:nvSpPr>
          <p:cNvPr id="33" name="矢印: 右 32">
            <a:extLst>
              <a:ext uri="{FF2B5EF4-FFF2-40B4-BE49-F238E27FC236}">
                <a16:creationId xmlns:a16="http://schemas.microsoft.com/office/drawing/2014/main" id="{9E297ACF-543F-5792-5FF8-31A67DE5E010}"/>
              </a:ext>
            </a:extLst>
          </p:cNvPr>
          <p:cNvSpPr/>
          <p:nvPr/>
        </p:nvSpPr>
        <p:spPr>
          <a:xfrm>
            <a:off x="3201301" y="3587310"/>
            <a:ext cx="380399" cy="814348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矢印: 右 33">
            <a:extLst>
              <a:ext uri="{FF2B5EF4-FFF2-40B4-BE49-F238E27FC236}">
                <a16:creationId xmlns:a16="http://schemas.microsoft.com/office/drawing/2014/main" id="{5C2A7FBF-1A36-F94E-CF6D-D80B032A0446}"/>
              </a:ext>
            </a:extLst>
          </p:cNvPr>
          <p:cNvSpPr/>
          <p:nvPr/>
        </p:nvSpPr>
        <p:spPr>
          <a:xfrm>
            <a:off x="7556232" y="3547423"/>
            <a:ext cx="380399" cy="814348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8918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0B80BE-10D3-30B8-A0C6-D969B0C55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A3373148-4CB0-DFF8-1503-429D5FCB5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740D7F19-43F8-E131-6C4D-0F11ED466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A2EE28B-3730-B6B5-B81B-50562CA21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1070149"/>
            <a:ext cx="8959893" cy="1004836"/>
          </a:xfrm>
        </p:spPr>
        <p:txBody>
          <a:bodyPr anchor="ctr">
            <a:normAutofit/>
          </a:bodyPr>
          <a:lstStyle/>
          <a:p>
            <a:pPr algn="ctr"/>
            <a:r>
              <a:rPr lang="ja-JP" altLang="en-US" sz="3200" b="1" dirty="0"/>
              <a:t>機能紹介（一覧）</a:t>
            </a:r>
            <a:endParaRPr kumimoji="1" lang="ja-JP" altLang="en-US" sz="32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B83D4B-11A3-09A9-3C23-4DBEB4018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16" name="スライド番号プレースホルダー 15">
            <a:extLst>
              <a:ext uri="{FF2B5EF4-FFF2-40B4-BE49-F238E27FC236}">
                <a16:creationId xmlns:a16="http://schemas.microsoft.com/office/drawing/2014/main" id="{0DA5BAA0-4EF5-5AD5-9A20-3741D983D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BC428D-39D0-4BB1-9803-D09E093DC601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游ゴシック" panose="02110004020202020204"/>
                <a:ea typeface="游ゴシック" panose="020B0400000000000000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游ゴシック" panose="02110004020202020204"/>
              <a:ea typeface="游ゴシック" panose="020B0400000000000000" pitchFamily="50" charset="-128"/>
              <a:cs typeface="+mn-cs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7F7418DC-DEF9-3BC2-734A-281EEB7797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27" y="1884704"/>
            <a:ext cx="6335486" cy="2640957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BCF47832-4843-E946-C6FF-2C297ABEC2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7173" y="4045249"/>
            <a:ext cx="6335486" cy="2080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152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EF9072-8177-0B7B-4A13-1A03AC5BA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9D79030D-904A-3A41-A9CC-2F7CE4F3B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9778C657-38A1-E020-39BB-3E589698B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1F89D47-6D58-5AD7-CB7A-2FD9DA26E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1070149"/>
            <a:ext cx="8959893" cy="1004836"/>
          </a:xfrm>
        </p:spPr>
        <p:txBody>
          <a:bodyPr anchor="ctr">
            <a:normAutofit/>
          </a:bodyPr>
          <a:lstStyle/>
          <a:p>
            <a:pPr algn="ctr"/>
            <a:r>
              <a:rPr lang="ja-JP" altLang="en-US" sz="3200" b="1" dirty="0"/>
              <a:t>機能紹介（変更削除の番号検索）</a:t>
            </a:r>
            <a:endParaRPr kumimoji="1" lang="ja-JP" altLang="en-US" sz="32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446BD8-2A6D-C8AD-DE86-BDFEA5C77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16" name="スライド番号プレースホルダー 15">
            <a:extLst>
              <a:ext uri="{FF2B5EF4-FFF2-40B4-BE49-F238E27FC236}">
                <a16:creationId xmlns:a16="http://schemas.microsoft.com/office/drawing/2014/main" id="{0E4D49D2-DA6A-7B09-DB0C-2B0BD045E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BC428D-39D0-4BB1-9803-D09E093DC601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游ゴシック" panose="02110004020202020204"/>
                <a:ea typeface="游ゴシック" panose="020B0400000000000000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游ゴシック" panose="02110004020202020204"/>
              <a:ea typeface="游ゴシック" panose="020B0400000000000000" pitchFamily="50" charset="-128"/>
              <a:cs typeface="+mn-cs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9AE551F1-6EE3-7DD1-D64F-58788BB86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241" y="2167605"/>
            <a:ext cx="3210653" cy="3820446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30E66909-0656-32B4-E7C9-8220D944C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8711" y="2074985"/>
            <a:ext cx="3107299" cy="3916882"/>
          </a:xfrm>
          <a:prstGeom prst="rect">
            <a:avLst/>
          </a:prstGeom>
        </p:spPr>
      </p:pic>
      <p:sp>
        <p:nvSpPr>
          <p:cNvPr id="11" name="矢印: 右 10">
            <a:extLst>
              <a:ext uri="{FF2B5EF4-FFF2-40B4-BE49-F238E27FC236}">
                <a16:creationId xmlns:a16="http://schemas.microsoft.com/office/drawing/2014/main" id="{E0FA352E-11CA-4E8E-5A1A-ED49C19BE222}"/>
              </a:ext>
            </a:extLst>
          </p:cNvPr>
          <p:cNvSpPr/>
          <p:nvPr/>
        </p:nvSpPr>
        <p:spPr>
          <a:xfrm>
            <a:off x="5609694" y="3728591"/>
            <a:ext cx="968828" cy="698475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3064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7FF893-AC90-8A7E-A871-09DFD9308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B2E28257-046B-D3CF-34B3-99C18E635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2E71D9A2-7099-BCEA-8463-A0E6F7660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45327AD-5AF9-F553-960D-6F28C9D9B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1070149"/>
            <a:ext cx="8959893" cy="1004836"/>
          </a:xfrm>
        </p:spPr>
        <p:txBody>
          <a:bodyPr anchor="ctr">
            <a:normAutofit/>
          </a:bodyPr>
          <a:lstStyle/>
          <a:p>
            <a:pPr algn="ctr"/>
            <a:r>
              <a:rPr kumimoji="1" lang="ja-JP" altLang="en-US" sz="3200" b="1" dirty="0"/>
              <a:t>成果物概要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C68788-D852-6139-8F81-82544CC9A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9DB60CF-8F89-63F3-323B-4DA94F278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2835" y="3073400"/>
            <a:ext cx="10042546" cy="344170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ja-JP" altLang="en-US" b="1" dirty="0"/>
              <a:t>・社員ページと部門ページを分けた</a:t>
            </a:r>
            <a:endParaRPr lang="en-US" altLang="ja-JP" b="1" dirty="0"/>
          </a:p>
          <a:p>
            <a:pPr marL="0" indent="0">
              <a:buNone/>
            </a:pPr>
            <a:r>
              <a:rPr lang="ja-JP" altLang="en-US" b="1" dirty="0"/>
              <a:t>・各ページにトップと分類ごとメニューに戻るボタンを配置</a:t>
            </a:r>
            <a:endParaRPr lang="en-US" altLang="ja-JP" b="1" dirty="0"/>
          </a:p>
          <a:p>
            <a:pPr marL="0" indent="0">
              <a:buNone/>
            </a:pPr>
            <a:r>
              <a:rPr lang="ja-JP" altLang="en-US" b="1" dirty="0"/>
              <a:t>・どの機能かわかる絵文字</a:t>
            </a:r>
            <a:endParaRPr lang="en-US" altLang="ja-JP" b="1" dirty="0"/>
          </a:p>
          <a:p>
            <a:pPr marL="0" indent="0">
              <a:buNone/>
            </a:pPr>
            <a:r>
              <a:rPr lang="ja-JP" altLang="en-US" b="1" dirty="0"/>
              <a:t>・部門は未選択も可能</a:t>
            </a:r>
            <a:endParaRPr lang="en-US" altLang="ja-JP" b="1" dirty="0"/>
          </a:p>
          <a:p>
            <a:pPr marL="0" indent="0">
              <a:buNone/>
            </a:pPr>
            <a:r>
              <a:rPr lang="ja-JP" altLang="en-US" b="1" dirty="0"/>
              <a:t>・シンプルで迷いが少ない</a:t>
            </a:r>
            <a:endParaRPr lang="en-US" altLang="ja-JP" b="1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44A9C69-7F4F-8543-22B2-43C920F5D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C428D-39D0-4BB1-9803-D09E093DC601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1692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D735C9-77F1-B101-7F5C-C7534B866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3BB8EBE-31C5-3D3A-D055-D87A8314F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3AAE63A-5314-5113-EBD5-423605F4A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1601" y="1371600"/>
            <a:ext cx="9486899" cy="411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4A9E64BD-5B85-2591-4AA6-5EA5BD878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602" y="2439375"/>
            <a:ext cx="6884895" cy="14966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ja-JP" altLang="en-US" sz="48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研修を通して</a:t>
            </a:r>
            <a:endParaRPr lang="en-US" altLang="ja-JP" sz="4800" b="1" kern="1200" dirty="0">
              <a:solidFill>
                <a:srgbClr val="595959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D85C90D-354B-7E85-90C3-E4F001E9E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C428D-39D0-4BB1-9803-D09E093DC601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06661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15F61C-E2E3-F3D9-56F7-2BE33BBC3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99C1E2BE-33F7-E446-B117-C779FB71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96DA1066-BD8C-86B5-9205-90328EEF3E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CAB5670-D337-EC7A-7440-5FD3C8F97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1070149"/>
            <a:ext cx="8959893" cy="1004836"/>
          </a:xfrm>
        </p:spPr>
        <p:txBody>
          <a:bodyPr anchor="ctr">
            <a:normAutofit/>
          </a:bodyPr>
          <a:lstStyle/>
          <a:p>
            <a:pPr algn="ctr"/>
            <a:r>
              <a:rPr kumimoji="1" lang="ja-JP" altLang="en-US" sz="3200" b="1" dirty="0"/>
              <a:t>成果報告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B8950B-12FE-AB21-4882-58525A4FA7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6942212-48C5-C253-A04E-975954888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054" y="2768321"/>
            <a:ext cx="8959892" cy="282854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kumimoji="1" lang="ja-JP" altLang="en-US" b="1" dirty="0"/>
              <a:t>スケジュールについて</a:t>
            </a:r>
            <a:endParaRPr kumimoji="1" lang="en-US" altLang="ja-JP" b="1" dirty="0"/>
          </a:p>
          <a:p>
            <a:pPr marL="0" indent="0">
              <a:buNone/>
            </a:pPr>
            <a:endParaRPr kumimoji="1" lang="en-US" altLang="ja-JP" b="1" dirty="0"/>
          </a:p>
          <a:p>
            <a:pPr marL="0" indent="0">
              <a:buNone/>
            </a:pPr>
            <a:r>
              <a:rPr lang="ja-JP" altLang="en-US" b="1" dirty="0"/>
              <a:t>・どれだけの時間がかかるか予測が難しい</a:t>
            </a:r>
            <a:endParaRPr lang="en-US" altLang="ja-JP" b="1" dirty="0"/>
          </a:p>
          <a:p>
            <a:pPr marL="0" indent="0">
              <a:buNone/>
            </a:pPr>
            <a:r>
              <a:rPr kumimoji="1" lang="ja-JP" altLang="en-US" b="1" dirty="0"/>
              <a:t>・変更時に他の予定とどう調節するか（優先順位）</a:t>
            </a:r>
            <a:endParaRPr kumimoji="1" lang="en-US" altLang="ja-JP" b="1" dirty="0"/>
          </a:p>
          <a:p>
            <a:pPr marL="0" indent="0">
              <a:buNone/>
            </a:pPr>
            <a:r>
              <a:rPr kumimoji="1" lang="ja-JP" altLang="en-US" b="1" dirty="0"/>
              <a:t>・余白を用意しておくことの重要さ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8EC94C-071E-B1C1-2185-017DB43B9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C428D-39D0-4BB1-9803-D09E093DC601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32320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405691-B622-24D5-74E1-32B42B29D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8ACEEFC7-C204-F911-53FF-783F730679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0286F555-0E15-DFB7-B42D-555D8D2AB6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6F033E8-E06D-9038-8C16-BBC60F7F5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1070149"/>
            <a:ext cx="8959893" cy="1004836"/>
          </a:xfrm>
        </p:spPr>
        <p:txBody>
          <a:bodyPr anchor="ctr">
            <a:normAutofit/>
          </a:bodyPr>
          <a:lstStyle/>
          <a:p>
            <a:pPr algn="ctr"/>
            <a:r>
              <a:rPr lang="ja-JP" altLang="en-US" sz="3200" b="1" dirty="0"/>
              <a:t>成果報告</a:t>
            </a:r>
            <a:endParaRPr kumimoji="1" lang="ja-JP" altLang="en-US" sz="3200" dirty="0">
              <a:solidFill>
                <a:srgbClr val="595959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DF6AC8-5CDE-D158-5945-0251D470D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90ED660-8522-9B57-5416-884600DB1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054" y="2768321"/>
            <a:ext cx="8959892" cy="282854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kumimoji="1" lang="ja-JP" altLang="en-US" b="1" dirty="0"/>
              <a:t>開発について</a:t>
            </a:r>
            <a:endParaRPr kumimoji="1" lang="en-US" altLang="ja-JP" b="1" dirty="0"/>
          </a:p>
          <a:p>
            <a:pPr marL="0" indent="0">
              <a:buNone/>
            </a:pPr>
            <a:endParaRPr kumimoji="1" lang="en-US" altLang="ja-JP" b="1" dirty="0"/>
          </a:p>
          <a:p>
            <a:pPr marL="0" indent="0">
              <a:buNone/>
            </a:pPr>
            <a:r>
              <a:rPr lang="ja-JP" altLang="en-US" b="1" dirty="0"/>
              <a:t>・クラス図やテストケースへの理解不足</a:t>
            </a:r>
            <a:endParaRPr lang="en-US" altLang="ja-JP" b="1" dirty="0"/>
          </a:p>
          <a:p>
            <a:pPr marL="0" indent="0">
              <a:buNone/>
            </a:pPr>
            <a:r>
              <a:rPr kumimoji="1" lang="ja-JP" altLang="en-US" b="1" dirty="0"/>
              <a:t>・自分で合っているつもりになっていることが多い</a:t>
            </a:r>
            <a:endParaRPr kumimoji="1" lang="en-US" altLang="ja-JP" b="1" dirty="0"/>
          </a:p>
          <a:p>
            <a:pPr marL="0" indent="0">
              <a:buNone/>
            </a:pPr>
            <a:r>
              <a:rPr lang="ja-JP" altLang="en-US" b="1" dirty="0"/>
              <a:t>・やりがちなミスの傾向が掴めた</a:t>
            </a:r>
            <a:endParaRPr kumimoji="1" lang="ja-JP" altLang="en-US" b="1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DA17CE0-3336-04F4-26F0-F05182D92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C428D-39D0-4BB1-9803-D09E093DC601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61286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8E898D-9C02-7A2E-2310-12F94CB71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920C44F8-5FBD-8042-D3E9-6BBBCBD21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B5900384-9167-CED3-919A-0046C9319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2BE45AC-E467-9B62-B3C2-51B4DF1B9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1070149"/>
            <a:ext cx="8959893" cy="1004836"/>
          </a:xfrm>
        </p:spPr>
        <p:txBody>
          <a:bodyPr anchor="ctr">
            <a:normAutofit/>
          </a:bodyPr>
          <a:lstStyle/>
          <a:p>
            <a:pPr algn="ctr"/>
            <a:r>
              <a:rPr lang="ja-JP" altLang="en-US" sz="3200" b="1" dirty="0"/>
              <a:t>成果報告</a:t>
            </a:r>
            <a:endParaRPr kumimoji="1" lang="ja-JP" altLang="en-US" sz="3200" dirty="0">
              <a:solidFill>
                <a:srgbClr val="595959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56F7AF-7A73-950F-1993-EC6CFBFCA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2990C07-1F3A-4F1E-4A76-200EB5449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054" y="2768321"/>
            <a:ext cx="8959892" cy="282854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ja-JP" altLang="en-US" b="1" dirty="0"/>
              <a:t>その他</a:t>
            </a:r>
            <a:endParaRPr lang="en-US" altLang="ja-JP" b="1" dirty="0"/>
          </a:p>
          <a:p>
            <a:pPr marL="0" indent="0">
              <a:buNone/>
            </a:pPr>
            <a:endParaRPr lang="en-US" altLang="ja-JP" b="1" dirty="0"/>
          </a:p>
          <a:p>
            <a:pPr marL="0" indent="0">
              <a:buNone/>
            </a:pPr>
            <a:r>
              <a:rPr lang="ja-JP" altLang="en-US" b="1" dirty="0"/>
              <a:t>・コミュニケーションの重要さ</a:t>
            </a:r>
            <a:endParaRPr lang="en-US" altLang="ja-JP" b="1" dirty="0"/>
          </a:p>
          <a:p>
            <a:pPr marL="0" indent="0">
              <a:buNone/>
            </a:pPr>
            <a:r>
              <a:rPr kumimoji="1" lang="ja-JP" altLang="en-US" b="1" dirty="0"/>
              <a:t>　（レビューでの伝え方やグループでの協力）</a:t>
            </a:r>
            <a:endParaRPr kumimoji="1" lang="en-US" altLang="ja-JP" b="1" dirty="0"/>
          </a:p>
          <a:p>
            <a:pPr marL="0" indent="0">
              <a:buNone/>
            </a:pPr>
            <a:r>
              <a:rPr lang="ja-JP" altLang="en-US" b="1" dirty="0"/>
              <a:t>・常に「誰のために、何のために」を明確に</a:t>
            </a:r>
            <a:endParaRPr kumimoji="1" lang="ja-JP" altLang="en-US" b="1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6FCA247-36C7-DE7B-1F62-3E3AAB775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C428D-39D0-4BB1-9803-D09E093DC601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40879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86D357-1662-7FE3-84D1-252CD93B4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A58F4D2-1D9C-CE92-9A72-CF012EEB7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007D45-C516-775C-D0DC-B316A06D8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1601" y="1371600"/>
            <a:ext cx="9486899" cy="411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88A7C2A6-1D6F-5673-68D6-4A026665E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602" y="2439375"/>
            <a:ext cx="6884895" cy="14966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ja-JP" altLang="en-US" sz="48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今後の目標</a:t>
            </a:r>
            <a:endParaRPr lang="en-US" altLang="ja-JP" sz="4800" b="1" kern="1200" dirty="0">
              <a:solidFill>
                <a:srgbClr val="595959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2B8633D4-4A79-D464-0F4C-0CE6266C0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C428D-39D0-4BB1-9803-D09E093DC601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98286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DC2143-9C24-020E-F495-19AA09426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3D00A22B-99D5-40FA-303E-6D36849A6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DC73A072-2846-0391-E20E-B27C9A637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0336654-DE7B-E4A5-B19F-35DD75F15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1070149"/>
            <a:ext cx="8959893" cy="1004836"/>
          </a:xfrm>
        </p:spPr>
        <p:txBody>
          <a:bodyPr anchor="ctr">
            <a:normAutofit/>
          </a:bodyPr>
          <a:lstStyle/>
          <a:p>
            <a:pPr algn="ctr"/>
            <a:r>
              <a:rPr kumimoji="1" lang="ja-JP" altLang="en-US" sz="3200" b="1" dirty="0">
                <a:solidFill>
                  <a:srgbClr val="595959"/>
                </a:solidFill>
              </a:rPr>
              <a:t>エンジニアとして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40768A-7903-D778-31C5-94469213B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4B7E0B2-9E0C-8B13-2889-4FCBF6A7A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4162" y="3130176"/>
            <a:ext cx="8959892" cy="282854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ja-JP" altLang="en-US" b="1" dirty="0"/>
              <a:t>・社内研修中以降も継続して自己研鑽</a:t>
            </a:r>
            <a:endParaRPr lang="en-US" altLang="ja-JP" b="1" dirty="0"/>
          </a:p>
          <a:p>
            <a:pPr marL="0" indent="0">
              <a:buNone/>
            </a:pPr>
            <a:r>
              <a:rPr kumimoji="1" lang="ja-JP" altLang="en-US" b="1" dirty="0"/>
              <a:t>・最適な優先順位を考える</a:t>
            </a:r>
            <a:endParaRPr kumimoji="1" lang="en-US" altLang="ja-JP" b="1" dirty="0"/>
          </a:p>
          <a:p>
            <a:pPr marL="0" indent="0">
              <a:buNone/>
            </a:pPr>
            <a:r>
              <a:rPr lang="ja-JP" altLang="en-US" b="1" dirty="0"/>
              <a:t>・わからないことを放置しない</a:t>
            </a:r>
            <a:endParaRPr lang="en-US" altLang="ja-JP" b="1" dirty="0"/>
          </a:p>
          <a:p>
            <a:pPr marL="0" indent="0">
              <a:buNone/>
            </a:pPr>
            <a:r>
              <a:rPr kumimoji="1" lang="ja-JP" altLang="en-US" b="1" dirty="0"/>
              <a:t>・コードをよく読み解く癖をつける</a:t>
            </a:r>
            <a:endParaRPr kumimoji="1" lang="en-US" altLang="ja-JP" b="1" dirty="0"/>
          </a:p>
          <a:p>
            <a:pPr marL="0" indent="0">
              <a:buNone/>
            </a:pPr>
            <a:r>
              <a:rPr lang="ja-JP" altLang="en-US" b="1" dirty="0"/>
              <a:t>・自分の得意不得意を研究する</a:t>
            </a:r>
            <a:endParaRPr lang="en-US" altLang="ja-JP" b="1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11C0A5B-7AF8-6AB0-18BD-6A39ED2A6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C428D-39D0-4BB1-9803-D09E093DC601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2208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EFA223-A4DD-C3AF-4449-E95EFCBD4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1B602569-0169-CE47-A874-ADDA3F5F6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E32CF53B-FDE8-9865-CE01-67CA508169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EF59F5E7-A96A-601D-4D80-DBF39D0D1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1070149"/>
            <a:ext cx="8959893" cy="1004836"/>
          </a:xfrm>
        </p:spPr>
        <p:txBody>
          <a:bodyPr anchor="ctr">
            <a:normAutofit/>
          </a:bodyPr>
          <a:lstStyle/>
          <a:p>
            <a:pPr algn="ctr"/>
            <a:r>
              <a:rPr kumimoji="1" lang="ja-JP" altLang="en-US" sz="3200" b="1" dirty="0">
                <a:solidFill>
                  <a:srgbClr val="595959"/>
                </a:solidFill>
              </a:rPr>
              <a:t>社会人として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089ADD-FC55-BE77-13CD-0103F66EFC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0241916-A3AC-A16F-0348-79A47D19C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055" y="3105089"/>
            <a:ext cx="8959892" cy="282854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ja-JP" altLang="en-US" b="1" dirty="0"/>
              <a:t>・常にスケジュールを意識する</a:t>
            </a:r>
            <a:endParaRPr lang="en-US" altLang="ja-JP" b="1" dirty="0"/>
          </a:p>
          <a:p>
            <a:pPr marL="0" indent="0">
              <a:buNone/>
            </a:pPr>
            <a:r>
              <a:rPr lang="ja-JP" altLang="en-US" b="1" dirty="0"/>
              <a:t>・相手に伝わるように話す、書く</a:t>
            </a:r>
            <a:endParaRPr lang="en-US" altLang="ja-JP" b="1" dirty="0"/>
          </a:p>
          <a:p>
            <a:pPr marL="0" indent="0">
              <a:buNone/>
            </a:pPr>
            <a:r>
              <a:rPr lang="ja-JP" altLang="en-US" b="1" dirty="0"/>
              <a:t>・コミュニケーションを欠かさない</a:t>
            </a:r>
            <a:endParaRPr lang="en-US" altLang="ja-JP" b="1" dirty="0"/>
          </a:p>
          <a:p>
            <a:pPr marL="0" indent="0">
              <a:buNone/>
            </a:pPr>
            <a:r>
              <a:rPr kumimoji="1" lang="ja-JP" altLang="en-US" b="1" dirty="0"/>
              <a:t>・自分の目的を明確にする</a:t>
            </a:r>
            <a:endParaRPr kumimoji="1" lang="en-US" altLang="ja-JP" b="1" dirty="0"/>
          </a:p>
          <a:p>
            <a:pPr marL="0" indent="0">
              <a:buNone/>
            </a:pPr>
            <a:r>
              <a:rPr lang="ja-JP" altLang="en-US" b="1" dirty="0"/>
              <a:t>・積極的に質問や相談をする</a:t>
            </a:r>
            <a:endParaRPr kumimoji="1" lang="ja-JP" altLang="en-US" b="1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F9253A5-8C0B-6179-3DCC-C32ABA8F9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C428D-39D0-4BB1-9803-D09E093DC601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72700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9CE690-ED13-980C-F8AE-CC608BDEE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9FCF43B-17B6-B317-E6F6-2F2B1ACBD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6C9FD6-60CD-103B-4E1F-EEE790C9A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1601" y="1371600"/>
            <a:ext cx="9486899" cy="411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1539D476-8652-0A32-0B8F-E11B6CAC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602" y="2439375"/>
            <a:ext cx="6884895" cy="14966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ja-JP" alt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ありがとうございました</a:t>
            </a:r>
            <a:endParaRPr lang="en-US" altLang="ja-JP" sz="3200" b="1" kern="1200" dirty="0">
              <a:solidFill>
                <a:srgbClr val="595959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8E5D6F97-93A2-819B-530A-D5F0A9E4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C428D-39D0-4BB1-9803-D09E093DC601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9715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1567</TotalTime>
  <Words>471</Words>
  <Application>Microsoft Office PowerPoint</Application>
  <PresentationFormat>ワイド画面</PresentationFormat>
  <Paragraphs>118</Paragraphs>
  <Slides>20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4" baseType="lpstr">
      <vt:lpstr>游ゴシック</vt:lpstr>
      <vt:lpstr>游ゴシック Light</vt:lpstr>
      <vt:lpstr>Arial</vt:lpstr>
      <vt:lpstr>Office テーマ</vt:lpstr>
      <vt:lpstr>開発演習成果発表</vt:lpstr>
      <vt:lpstr>スケジュールについて</vt:lpstr>
      <vt:lpstr>開発スケジュールについて（予定）</vt:lpstr>
      <vt:lpstr>開発スケジュールについて</vt:lpstr>
      <vt:lpstr>開発スケジュールについて</vt:lpstr>
      <vt:lpstr>成果物紹介</vt:lpstr>
      <vt:lpstr>成果物概要</vt:lpstr>
      <vt:lpstr>機能一覧</vt:lpstr>
      <vt:lpstr>機能紹介（登録）</vt:lpstr>
      <vt:lpstr>機能紹介（一覧）</vt:lpstr>
      <vt:lpstr>機能紹介（変更削除の番号検索）</vt:lpstr>
      <vt:lpstr>成果物概要</vt:lpstr>
      <vt:lpstr>研修を通して</vt:lpstr>
      <vt:lpstr>成果報告</vt:lpstr>
      <vt:lpstr>成果報告</vt:lpstr>
      <vt:lpstr>成果報告</vt:lpstr>
      <vt:lpstr>今後の目標</vt:lpstr>
      <vt:lpstr>エンジニアとして</vt:lpstr>
      <vt:lpstr>社会人として</vt:lpstr>
      <vt:lpstr>ありがとうございました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opnewemp007</dc:creator>
  <cp:lastModifiedBy>opnewemp007</cp:lastModifiedBy>
  <cp:revision>17</cp:revision>
  <dcterms:created xsi:type="dcterms:W3CDTF">2026-05-27T05:36:47Z</dcterms:created>
  <dcterms:modified xsi:type="dcterms:W3CDTF">2026-05-28T07:43:58Z</dcterms:modified>
</cp:coreProperties>
</file>